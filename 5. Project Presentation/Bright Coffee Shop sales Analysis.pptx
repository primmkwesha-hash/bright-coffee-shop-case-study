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181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Barista Espresso</c:v>
                </c:pt>
                <c:pt idx="1">
                  <c:v>Brewed Chai Tea</c:v>
                </c:pt>
                <c:pt idx="2">
                  <c:v>Hot Chocolate</c:v>
                </c:pt>
                <c:pt idx="3">
                  <c:v>Gourmet Coffee</c:v>
                </c:pt>
                <c:pt idx="4">
                  <c:v>Brewed Black Tea</c:v>
                </c:pt>
                <c:pt idx="5">
                  <c:v>Brewed Herbal Tea</c:v>
                </c:pt>
                <c:pt idx="6">
                  <c:v>Premium Coffee</c:v>
                </c:pt>
                <c:pt idx="7">
                  <c:v>Organic Coffee</c:v>
                </c:pt>
                <c:pt idx="8">
                  <c:v>Scone</c:v>
                </c:pt>
                <c:pt idx="9">
                  <c:v>Drip Coffee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91406</c:v>
                </c:pt>
                <c:pt idx="1">
                  <c:v>77082</c:v>
                </c:pt>
                <c:pt idx="2">
                  <c:v>72416</c:v>
                </c:pt>
                <c:pt idx="3">
                  <c:v>70035</c:v>
                </c:pt>
                <c:pt idx="4">
                  <c:v>47932</c:v>
                </c:pt>
                <c:pt idx="5">
                  <c:v>47540</c:v>
                </c:pt>
                <c:pt idx="6">
                  <c:v>38781</c:v>
                </c:pt>
                <c:pt idx="7">
                  <c:v>37747</c:v>
                </c:pt>
                <c:pt idx="8">
                  <c:v>36866</c:v>
                </c:pt>
                <c:pt idx="9">
                  <c:v>31984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6C-4F03-8252-871FEEAD0A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181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</c:v>
                </c:pt>
                <c:pt idx="4">
                  <c:v>Flavours</c:v>
                </c:pt>
                <c:pt idx="5">
                  <c:v>Coffee Beans</c:v>
                </c:pt>
                <c:pt idx="6">
                  <c:v>Loose Tea</c:v>
                </c:pt>
                <c:pt idx="7">
                  <c:v>Branded</c:v>
                </c:pt>
                <c:pt idx="8">
                  <c:v>Packaged Choc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58416</c:v>
                </c:pt>
                <c:pt idx="1">
                  <c:v>45449</c:v>
                </c:pt>
                <c:pt idx="2">
                  <c:v>22796</c:v>
                </c:pt>
                <c:pt idx="3">
                  <c:v>11468</c:v>
                </c:pt>
                <c:pt idx="4">
                  <c:v>6790</c:v>
                </c:pt>
                <c:pt idx="5">
                  <c:v>1753</c:v>
                </c:pt>
                <c:pt idx="6">
                  <c:v>1210</c:v>
                </c:pt>
                <c:pt idx="7">
                  <c:v>747</c:v>
                </c:pt>
                <c:pt idx="8">
                  <c:v>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8C-4D7C-984C-F691106201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D4A57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4A5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FE-4E4D-BBA6-AB61F97CCF06}"/>
              </c:ext>
            </c:extLst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FE-4E4D-BBA6-AB61F97CCF06}"/>
              </c:ext>
            </c:extLst>
          </c:dPt>
          <c:dPt>
            <c:idx val="2"/>
            <c:invertIfNegative val="0"/>
            <c:bubble3D val="0"/>
            <c:spPr>
              <a:solidFill>
                <a:srgbClr val="C67D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FE-4E4D-BBA6-AB61F97CCF06}"/>
              </c:ext>
            </c:extLst>
          </c:dPt>
          <c:dPt>
            <c:idx val="3"/>
            <c:invertIfNegative val="0"/>
            <c:bubble3D val="0"/>
            <c:spPr>
              <a:solidFill>
                <a:srgbClr val="7A8B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FE-4E4D-BBA6-AB61F97CCF06}"/>
              </c:ext>
            </c:extLst>
          </c:dPt>
          <c:dPt>
            <c:idx val="4"/>
            <c:invertIfNegative val="0"/>
            <c:bubble3D val="0"/>
            <c:spPr>
              <a:solidFill>
                <a:srgbClr val="8C7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FE-4E4D-BBA6-AB61F97CCF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181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Rush Hour (AM)</c:v>
                </c:pt>
                <c:pt idx="1">
                  <c:v>Mid Morning</c:v>
                </c:pt>
                <c:pt idx="2">
                  <c:v>Afternoon</c:v>
                </c:pt>
                <c:pt idx="3">
                  <c:v>Rush Hour (PM)</c:v>
                </c:pt>
                <c:pt idx="4">
                  <c:v>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35676</c:v>
                </c:pt>
                <c:pt idx="1">
                  <c:v>46075</c:v>
                </c:pt>
                <c:pt idx="2">
                  <c:v>35334</c:v>
                </c:pt>
                <c:pt idx="3">
                  <c:v>17844</c:v>
                </c:pt>
                <c:pt idx="4">
                  <c:v>14187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FE-4E4D-BBA6-AB61F97CCF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Rush Hour (AM)</c:v>
                </c:pt>
                <c:pt idx="1">
                  <c:v>Mid Morning</c:v>
                </c:pt>
                <c:pt idx="2">
                  <c:v>Afternoon</c:v>
                </c:pt>
                <c:pt idx="3">
                  <c:v>Rush Hour (PM)</c:v>
                </c:pt>
                <c:pt idx="4">
                  <c:v>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9147</c:v>
                </c:pt>
                <c:pt idx="1">
                  <c:v>13787</c:v>
                </c:pt>
                <c:pt idx="2">
                  <c:v>13636</c:v>
                </c:pt>
                <c:pt idx="3">
                  <c:v>7007</c:v>
                </c:pt>
                <c:pt idx="4">
                  <c:v>7022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5-46B9-898C-AB45F0AE1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C67D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Rush Hour (AM)</c:v>
                </c:pt>
                <c:pt idx="1">
                  <c:v>Mid Morning</c:v>
                </c:pt>
                <c:pt idx="2">
                  <c:v>Afternoon</c:v>
                </c:pt>
                <c:pt idx="3">
                  <c:v>Rush Hour (PM)</c:v>
                </c:pt>
                <c:pt idx="4">
                  <c:v>Night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12040</c:v>
                </c:pt>
                <c:pt idx="1">
                  <c:v>17322</c:v>
                </c:pt>
                <c:pt idx="2">
                  <c:v>10326</c:v>
                </c:pt>
                <c:pt idx="3">
                  <c:v>5509</c:v>
                </c:pt>
                <c:pt idx="4">
                  <c:v>5538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55-46B9-898C-AB45F0AE1F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7A8B6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Rush Hour (AM)</c:v>
                </c:pt>
                <c:pt idx="1">
                  <c:v>Mid Morning</c:v>
                </c:pt>
                <c:pt idx="2">
                  <c:v>Afternoon</c:v>
                </c:pt>
                <c:pt idx="3">
                  <c:v>Rush Hour (PM)</c:v>
                </c:pt>
                <c:pt idx="4">
                  <c:v>Night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14489</c:v>
                </c:pt>
                <c:pt idx="1">
                  <c:v>14966</c:v>
                </c:pt>
                <c:pt idx="2">
                  <c:v>11372</c:v>
                </c:pt>
                <c:pt idx="3">
                  <c:v>5328</c:v>
                </c:pt>
                <c:pt idx="4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55-46B9-898C-AB45F0AE1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Volume</c:v>
                </c:pt>
              </c:strCache>
            </c:strRef>
          </c:tx>
          <c:spPr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181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3FB-4D11-9D58-8610487B2E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C67D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181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21096</c:v>
                </c:pt>
                <c:pt idx="1">
                  <c:v>21643</c:v>
                </c:pt>
                <c:pt idx="2">
                  <c:v>21202</c:v>
                </c:pt>
                <c:pt idx="3">
                  <c:v>21310</c:v>
                </c:pt>
                <c:pt idx="4">
                  <c:v>21654</c:v>
                </c:pt>
                <c:pt idx="5">
                  <c:v>21701</c:v>
                </c:pt>
                <c:pt idx="6">
                  <c:v>20510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80-4656-B44F-4F678050F2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81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1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3200400" cy="3657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Half-Year Performance Review  |  January – June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Chief Executive Officer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Prim l Junior Data Analyst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864" cy="20116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$698,812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products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54864" cy="2011680"/>
          </a:xfrm>
          <a:prstGeom prst="rect">
            <a:avLst/>
          </a:prstGeom>
          <a:solidFill>
            <a:srgbClr val="7A8B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788920" y="1371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period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54864" cy="2011680"/>
          </a:xfrm>
          <a:prstGeom prst="rect">
            <a:avLst/>
          </a:prstGeom>
          <a:solidFill>
            <a:srgbClr val="C67D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Barista Espresso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$91,406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54864" cy="20116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995160" y="1371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7830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 Morning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46,075 transactions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r>
              <a:rPr lang="en-US" sz="11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first half of the year, Bright Coffee Shop recorded strong and consistent growth in sales, with revenue climbing from $73,000 in January to a high of $166,000 in June. Coffee and tea beverages collectively accounted for more than 70% of all transactions, while the mid-morning slot proved to be the single busiest trading window across all three store locations.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Product — Top 10 Performers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143000"/>
          <a:ext cx="8046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leads with $91,406 in revenue — a 19% premium over the second-best seller.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Volume by Product Category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097280"/>
          <a:ext cx="8046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dominates with 58,416 units (39%), followed by Tea at 45,449 (30%) and Bakery at 22,796 (15%).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Trading Hours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280160"/>
            <a:ext cx="28346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3"/>
          <p:cNvSpPr/>
          <p:nvPr/>
        </p:nvSpPr>
        <p:spPr>
          <a:xfrm>
            <a:off x="5943600" y="1280160"/>
            <a:ext cx="283464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4"/>
          <p:cNvSpPr/>
          <p:nvPr/>
        </p:nvSpPr>
        <p:spPr>
          <a:xfrm>
            <a:off x="6126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2648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mid-morning window (roughly 10am – 12pm) accounts for 31% of all transactions — making it the single most important revenue period across the business.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26480" y="2880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the night and late-afternoon slots together represent just 21% of traffic. These off-peak periods present a clear opportunity for targeted promotions and loyalty incentives.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Morning drives 31% of all foot traffic.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Across Locations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Totals: Astoria 50,599  |  Hell's Kitchen 50,735  |  Lower Manhattan 47,782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drops off sharply after hours, recording just 1,627 night transactions compared with over 7,000 at the other two sites.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Sales Growth Trajectory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097280"/>
          <a:ext cx="8046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2976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3"/>
          <p:cNvSpPr/>
          <p:nvPr/>
        </p:nvSpPr>
        <p:spPr>
          <a:xfrm>
            <a:off x="822960" y="4389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+104% </a:t>
            </a:r>
            <a:r>
              <a:rPr lang="en-US" sz="11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January to June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846320" y="42976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5029200" y="4389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35,352 </a:t>
            </a:r>
            <a:r>
              <a:rPr lang="en-US" sz="11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June alone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C241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Day-of-Week Sales Distribution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097280"/>
          <a:ext cx="8046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remain remarkably even across the week, with just a 5.5% gap between the busiest day (Friday, 21,701) and the quietest (Saturday, 20,510). This consistency supports stable staffing models and stock planning.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584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solidFill>
            <a:srgbClr val="2B181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64008" cy="10972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91440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targeted marketing during slow time slots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 and late-afternoon windows are underperforming relative to mid-morning traffic. Time-bound discounts, happy-hour bundles, and social media pushes during these periods would help flatten the demand curve and lift average daily revenue.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7863840" cy="1097280"/>
          </a:xfrm>
          <a:prstGeom prst="rect">
            <a:avLst/>
          </a:prstGeom>
          <a:solidFill>
            <a:srgbClr val="2B181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64008" cy="10972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91440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more of the best-selling items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2880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Espresso, Brewed Chai Tea, and Hot Chocolate together generate 34% of total revenue. Ensuring these products are never out of stock — especially during mid-morning peaks — directly protects the top line.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3703320"/>
            <a:ext cx="7863840" cy="1097280"/>
          </a:xfrm>
          <a:prstGeom prst="rect">
            <a:avLst/>
          </a:prstGeom>
          <a:solidFill>
            <a:srgbClr val="2B181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640080" y="3703320"/>
            <a:ext cx="64008" cy="109728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91440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underperforming products strategically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like packaged coffee beans, loose tea, and branded merchandise account for less than 3% of volume. Bundling these items with popular beverages, running tasting events, or placing them at point-of-sale would increase exposure without cannibalising core sales.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512</Words>
  <Application>Microsoft Office PowerPoint</Application>
  <PresentationFormat>On-screen Show (16:9)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>PptxGenJS Presentation</dc:subject>
  <dc:creator>Bright Coffee Shop — Analytics Division</dc:creator>
  <cp:lastModifiedBy>Simba Mlilwana</cp:lastModifiedBy>
  <cp:revision>4</cp:revision>
  <dcterms:created xsi:type="dcterms:W3CDTF">2026-03-29T18:25:28Z</dcterms:created>
  <dcterms:modified xsi:type="dcterms:W3CDTF">2026-03-29T18:30:22Z</dcterms:modified>
</cp:coreProperties>
</file>